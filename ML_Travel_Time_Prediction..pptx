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6.xml" ContentType="application/vnd.openxmlformats-officedocument.presentationml.slide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61" r:id="rId12"/>
    <p:sldId id="259" r:id="rId5"/>
    <p:sldId id="260" r:id="rId6"/>
  </p:sldIdLst>
  <p:notesMasterIdLst>
    <p:notesMasterId r:id="rId7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  <Relationship Id="rId12" Type="http://schemas.openxmlformats.org/officeDocument/2006/relationships/slide" Target="slides/slide6.xml"/>
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9144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3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96012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Travel Time Prediction Using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Ridge and Lasso Regression</a:t>
            </a:r>
            <a:endParaRPr lang="en-US" sz="3800" dirty="0"/>
          </a:p>
        </p:txBody>
      </p:sp>
      <p:sp>
        <p:nvSpPr>
          <p:cNvPr id="6" name="Shape 4"/>
          <p:cNvSpPr/>
          <p:nvPr/>
        </p:nvSpPr>
        <p:spPr>
          <a:xfrm>
            <a:off x="777240" y="3246120"/>
            <a:ext cx="2011680" cy="0"/>
          </a:xfrm>
          <a:prstGeom prst="line">
            <a:avLst/>
          </a:prstGeom>
          <a:noFill/>
          <a:ln w="25400">
            <a:solidFill>
              <a:srgbClr val="3E82A6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34290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B.Tech – Computer Science &amp; Information Technology  |  A.Y. 2026-27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4114800"/>
            <a:ext cx="5852160" cy="1417320"/>
          </a:xfrm>
          <a:prstGeom prst="roundRect">
            <a:avLst>
              <a:gd name="adj" fmla="val 5161"/>
            </a:avLst>
          </a:prstGeom>
          <a:solidFill>
            <a:srgbClr val="FFFFFF">
              <a:alpha val="8000"/>
            </a:srgbClr>
          </a:solidFill>
          <a:ln w="12700">
            <a:solidFill>
              <a:srgbClr val="3E82A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960120" y="4224528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TEAM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960120" y="45262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Shanthi Swaroop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M. Abhi Sai Sagar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P. Goutham Vikas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931920" y="4526280"/>
            <a:ext cx="246888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2520090224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2520090173</a:t>
            </a:r>
            <a:endParaRPr lang="en-US" sz="1350" dirty="0"/>
          </a:p>
          <a:p>
            <a:pPr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2520090096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6903720" y="422452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 THE GUIDANCE OF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6903720" y="452628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Mrs. I V Sai Lakshmi Haritha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903720" y="4828032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Assistant Professor, CS &amp; IT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7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D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Introduction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630936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prediction is an important application of machine learning that helps estimate the duration of a journey more accurately. The prediction depends on various factors such as distance, traffic conditions, weather, day of the week, and departure time.</a:t>
            </a:r>
            <a:endParaRPr lang="en-US" sz="1450" dirty="0"/>
          </a:p>
          <a:p>
            <a:pPr algn="l" indent="0" marL="0">
              <a:lnSpc>
                <a:spcPct val="128000"/>
              </a:lnSpc>
              <a:spcAft>
                <a:spcPts val="1200"/>
              </a:spcAft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project develops a web-based application that predicts travel time between a selected source and destination, using route information along with real-time traffic and weather data as input features.</a:t>
            </a:r>
            <a:endParaRPr lang="en-US" sz="1450" dirty="0"/>
          </a:p>
          <a:p>
            <a:pPr algn="l" indent="0" marL="0">
              <a:lnSpc>
                <a:spcPct val="128000"/>
              </a:lnSpc>
              <a:buNone/>
            </a:pPr>
            <a:r>
              <a:rPr lang="en-US" sz="145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and Lasso Regression models generate the predictions, with the estimated arrival time (ETA) and route displayed on an interactive map — demonstrating the practical use of ML in smarter travel planning.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7360920" y="1783080"/>
            <a:ext cx="4160520" cy="4526280"/>
          </a:xfrm>
          <a:prstGeom prst="roundRect">
            <a:avLst>
              <a:gd name="adj" fmla="val 2198"/>
            </a:avLst>
          </a:prstGeom>
          <a:solidFill>
            <a:srgbClr val="21295C"/>
          </a:solidFill>
          <a:ln/>
        </p:spPr>
      </p:sp>
      <p:sp>
        <p:nvSpPr>
          <p:cNvPr id="8" name="Text 6"/>
          <p:cNvSpPr/>
          <p:nvPr/>
        </p:nvSpPr>
        <p:spPr>
          <a:xfrm>
            <a:off x="7680960" y="2011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INPUT FACTORS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7680960" y="2514600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0" name="Text 8"/>
          <p:cNvSpPr/>
          <p:nvPr/>
        </p:nvSpPr>
        <p:spPr>
          <a:xfrm>
            <a:off x="7680960" y="2514600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8092440" y="2496312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680960" y="3136392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3" name="Text 11"/>
          <p:cNvSpPr/>
          <p:nvPr/>
        </p:nvSpPr>
        <p:spPr>
          <a:xfrm>
            <a:off x="7680960" y="3136392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8092440" y="3118104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Traffic conditions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7680960" y="3758184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6" name="Text 14"/>
          <p:cNvSpPr/>
          <p:nvPr/>
        </p:nvSpPr>
        <p:spPr>
          <a:xfrm>
            <a:off x="7680960" y="3758184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8092440" y="3739896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Weather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680960" y="4379976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9" name="Text 17"/>
          <p:cNvSpPr/>
          <p:nvPr/>
        </p:nvSpPr>
        <p:spPr>
          <a:xfrm>
            <a:off x="7680960" y="4379976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8092440" y="4361688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of the week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7680960" y="5001768"/>
            <a:ext cx="292608" cy="292608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7680960" y="5001768"/>
            <a:ext cx="29260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8092440" y="4983480"/>
            <a:ext cx="32461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Departure time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7680960" y="5715000"/>
            <a:ext cx="3520440" cy="0"/>
          </a:xfrm>
          <a:prstGeom prst="line">
            <a:avLst/>
          </a:prstGeom>
          <a:noFill/>
          <a:ln w="12700">
            <a:solidFill>
              <a:srgbClr val="3E82A6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680960" y="58064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Output: ETA + route shown on an interactive map</a:t>
            </a:r>
            <a:endParaRPr lang="en-US" sz="11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D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Abstract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Accurate travel time prediction supports efficient route planning and traffic management, but is challenging due to dynamic factors like traffic density, weather, road infrastructure, and unexpected incidents.</a:t>
            </a:r>
            <a:endParaRPr lang="en-US" sz="1400" dirty="0"/>
          </a:p>
          <a:p>
            <a:pPr indent="0" marL="0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study builds a prediction model using Ridge and Lasso Regression — regularization techniques that reduce overfitting and handle multicollinearity among input variables, after preprocessing steps such as handling missing values, feature selection, normalization, and train/test splitting.</a:t>
            </a:r>
            <a:endParaRPr lang="en-US" sz="14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Regression (L2) shrinks coefficients while retaining all features, suiting correlated variables. Lasso Regression (L1) additionally performs automatic feature selection by zeroing out less significant coefficients.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7830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938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EVALUATION METRICS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23591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3591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23591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23591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2980944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98094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RMSE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2980944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298094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R² Score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39776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114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TAKEAWAY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26680" y="44805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Ridge gives stable predictions under multicollinearity; Lasso boosts interpretability by highlighting the most influential features — together offering reliable, efficient solutions for real-time transportation systems.</a:t>
            </a:r>
            <a:endParaRPr lang="en-US" sz="12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41148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3E4A8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Software Requirements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85800" y="1444752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78308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6" name="Shape 4"/>
          <p:cNvSpPr/>
          <p:nvPr/>
        </p:nvSpPr>
        <p:spPr>
          <a:xfrm>
            <a:off x="841248" y="198424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7" name="Text 5"/>
          <p:cNvSpPr/>
          <p:nvPr/>
        </p:nvSpPr>
        <p:spPr>
          <a:xfrm>
            <a:off x="841248" y="1984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1426464" y="188366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Operating System</a:t>
            </a:r>
            <a:endParaRPr lang="en-US" sz="1350" dirty="0"/>
          </a:p>
        </p:txBody>
      </p:sp>
      <p:sp>
        <p:nvSpPr>
          <p:cNvPr id="9" name="Text 7"/>
          <p:cNvSpPr/>
          <p:nvPr/>
        </p:nvSpPr>
        <p:spPr>
          <a:xfrm>
            <a:off x="1426464" y="2194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Windows 10/11 or Ubuntu Linux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" y="27889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11" name="Shape 9"/>
          <p:cNvSpPr/>
          <p:nvPr/>
        </p:nvSpPr>
        <p:spPr>
          <a:xfrm>
            <a:off x="841248" y="299008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2" name="Text 10"/>
          <p:cNvSpPr/>
          <p:nvPr/>
        </p:nvSpPr>
        <p:spPr>
          <a:xfrm>
            <a:off x="841248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426464" y="2889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Programming Language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1426464" y="3200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3.x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640080" y="379476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16" name="Shape 14"/>
          <p:cNvSpPr/>
          <p:nvPr/>
        </p:nvSpPr>
        <p:spPr>
          <a:xfrm>
            <a:off x="841248" y="39959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17" name="Text 15"/>
          <p:cNvSpPr/>
          <p:nvPr/>
        </p:nvSpPr>
        <p:spPr>
          <a:xfrm>
            <a:off x="841248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426464" y="389534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1350" dirty="0"/>
          </a:p>
        </p:txBody>
      </p:sp>
      <p:sp>
        <p:nvSpPr>
          <p:cNvPr id="19" name="Text 17"/>
          <p:cNvSpPr/>
          <p:nvPr/>
        </p:nvSpPr>
        <p:spPr>
          <a:xfrm>
            <a:off x="1426464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HTML5, CSS3, JavaScript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640080" y="480060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21" name="Shape 19"/>
          <p:cNvSpPr/>
          <p:nvPr/>
        </p:nvSpPr>
        <p:spPr>
          <a:xfrm>
            <a:off x="841248" y="5001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2" name="Text 20"/>
          <p:cNvSpPr/>
          <p:nvPr/>
        </p:nvSpPr>
        <p:spPr>
          <a:xfrm>
            <a:off x="841248" y="5001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3" name="Text 21"/>
          <p:cNvSpPr/>
          <p:nvPr/>
        </p:nvSpPr>
        <p:spPr>
          <a:xfrm>
            <a:off x="1426464" y="49011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Framework</a:t>
            </a:r>
            <a:endParaRPr lang="en-US" sz="1350" dirty="0"/>
          </a:p>
        </p:txBody>
      </p:sp>
      <p:sp>
        <p:nvSpPr>
          <p:cNvPr id="24" name="Text 22"/>
          <p:cNvSpPr/>
          <p:nvPr/>
        </p:nvSpPr>
        <p:spPr>
          <a:xfrm>
            <a:off x="1426464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Flask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0080" y="580644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26" name="Shape 24"/>
          <p:cNvSpPr/>
          <p:nvPr/>
        </p:nvSpPr>
        <p:spPr>
          <a:xfrm>
            <a:off x="841248" y="600760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27" name="Text 25"/>
          <p:cNvSpPr/>
          <p:nvPr/>
        </p:nvSpPr>
        <p:spPr>
          <a:xfrm>
            <a:off x="841248" y="6007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28" name="Text 26"/>
          <p:cNvSpPr/>
          <p:nvPr/>
        </p:nvSpPr>
        <p:spPr>
          <a:xfrm>
            <a:off x="1426464" y="590702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 Library</a:t>
            </a:r>
            <a:endParaRPr lang="en-US" sz="1350" dirty="0"/>
          </a:p>
        </p:txBody>
      </p:sp>
      <p:sp>
        <p:nvSpPr>
          <p:cNvPr id="29" name="Text 27"/>
          <p:cNvSpPr/>
          <p:nvPr/>
        </p:nvSpPr>
        <p:spPr>
          <a:xfrm>
            <a:off x="1426464" y="6217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Scikit-learn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263640" y="178308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198424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2" name="Text 30"/>
          <p:cNvSpPr/>
          <p:nvPr/>
        </p:nvSpPr>
        <p:spPr>
          <a:xfrm>
            <a:off x="6464808" y="198424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7050024" y="188366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Processing</a:t>
            </a:r>
            <a:endParaRPr lang="en-US" sz="1350" dirty="0"/>
          </a:p>
        </p:txBody>
      </p:sp>
      <p:sp>
        <p:nvSpPr>
          <p:cNvPr id="34" name="Text 32"/>
          <p:cNvSpPr/>
          <p:nvPr/>
        </p:nvSpPr>
        <p:spPr>
          <a:xfrm>
            <a:off x="7050024" y="219456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and NumPy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6263640" y="278892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36" name="Shape 34"/>
          <p:cNvSpPr/>
          <p:nvPr/>
        </p:nvSpPr>
        <p:spPr>
          <a:xfrm>
            <a:off x="6464808" y="299008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37" name="Text 35"/>
          <p:cNvSpPr/>
          <p:nvPr/>
        </p:nvSpPr>
        <p:spPr>
          <a:xfrm>
            <a:off x="6464808" y="299008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7050024" y="288950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</a:t>
            </a:r>
            <a:endParaRPr lang="en-US" sz="1350" dirty="0"/>
          </a:p>
        </p:txBody>
      </p:sp>
      <p:sp>
        <p:nvSpPr>
          <p:cNvPr id="39" name="Text 37"/>
          <p:cNvSpPr/>
          <p:nvPr/>
        </p:nvSpPr>
        <p:spPr>
          <a:xfrm>
            <a:off x="7050024" y="320040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6263640" y="379476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41" name="Shape 39"/>
          <p:cNvSpPr/>
          <p:nvPr/>
        </p:nvSpPr>
        <p:spPr>
          <a:xfrm>
            <a:off x="6464808" y="399592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2" name="Text 40"/>
          <p:cNvSpPr/>
          <p:nvPr/>
        </p:nvSpPr>
        <p:spPr>
          <a:xfrm>
            <a:off x="6464808" y="399592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500" dirty="0"/>
          </a:p>
        </p:txBody>
      </p:sp>
      <p:sp>
        <p:nvSpPr>
          <p:cNvPr id="43" name="Text 41"/>
          <p:cNvSpPr/>
          <p:nvPr/>
        </p:nvSpPr>
        <p:spPr>
          <a:xfrm>
            <a:off x="7050024" y="389534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</a:t>
            </a:r>
            <a:endParaRPr lang="en-US" sz="1350" dirty="0"/>
          </a:p>
        </p:txBody>
      </p:sp>
      <p:sp>
        <p:nvSpPr>
          <p:cNvPr id="44" name="Text 42"/>
          <p:cNvSpPr/>
          <p:nvPr/>
        </p:nvSpPr>
        <p:spPr>
          <a:xfrm>
            <a:off x="7050024" y="420624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 Route Service / Google Maps API, Open Weather API</a:t>
            </a:r>
            <a:endParaRPr lang="en-US" sz="1100" dirty="0"/>
          </a:p>
        </p:txBody>
      </p:sp>
      <p:sp>
        <p:nvSpPr>
          <p:cNvPr id="45" name="Shape 43"/>
          <p:cNvSpPr/>
          <p:nvPr/>
        </p:nvSpPr>
        <p:spPr>
          <a:xfrm>
            <a:off x="6263640" y="480060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46" name="Shape 44"/>
          <p:cNvSpPr/>
          <p:nvPr/>
        </p:nvSpPr>
        <p:spPr>
          <a:xfrm>
            <a:off x="6464808" y="500176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47" name="Text 45"/>
          <p:cNvSpPr/>
          <p:nvPr/>
        </p:nvSpPr>
        <p:spPr>
          <a:xfrm>
            <a:off x="6464808" y="500176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500" dirty="0"/>
          </a:p>
        </p:txBody>
      </p:sp>
      <p:sp>
        <p:nvSpPr>
          <p:cNvPr id="48" name="Text 46"/>
          <p:cNvSpPr/>
          <p:nvPr/>
        </p:nvSpPr>
        <p:spPr>
          <a:xfrm>
            <a:off x="7050024" y="490118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 Tool</a:t>
            </a:r>
            <a:endParaRPr lang="en-US" sz="1350" dirty="0"/>
          </a:p>
        </p:txBody>
      </p:sp>
      <p:sp>
        <p:nvSpPr>
          <p:cNvPr id="49" name="Text 47"/>
          <p:cNvSpPr/>
          <p:nvPr/>
        </p:nvSpPr>
        <p:spPr>
          <a:xfrm>
            <a:off x="7050024" y="521208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 Studio Code</a:t>
            </a:r>
            <a:endParaRPr lang="en-US" sz="1100" dirty="0"/>
          </a:p>
        </p:txBody>
      </p:sp>
      <p:sp>
        <p:nvSpPr>
          <p:cNvPr id="50" name="Shape 48"/>
          <p:cNvSpPr/>
          <p:nvPr/>
        </p:nvSpPr>
        <p:spPr>
          <a:xfrm>
            <a:off x="6263640" y="5806440"/>
            <a:ext cx="5349240" cy="841248"/>
          </a:xfrm>
          <a:prstGeom prst="roundRect">
            <a:avLst>
              <a:gd name="adj" fmla="val 8696"/>
            </a:avLst>
          </a:prstGeom>
          <a:solidFill>
            <a:srgbClr val="1B2C63"/>
          </a:solidFill>
          <a:ln/>
        </p:spPr>
      </p:sp>
      <p:sp>
        <p:nvSpPr>
          <p:cNvPr id="51" name="Shape 49"/>
          <p:cNvSpPr/>
          <p:nvPr/>
        </p:nvSpPr>
        <p:spPr>
          <a:xfrm>
            <a:off x="6464808" y="6007608"/>
            <a:ext cx="438912" cy="438912"/>
          </a:xfrm>
          <a:prstGeom prst="ellipse">
            <a:avLst/>
          </a:prstGeom>
          <a:solidFill>
            <a:srgbClr val="1C7293"/>
          </a:solidFill>
          <a:ln/>
        </p:spPr>
      </p:sp>
      <p:sp>
        <p:nvSpPr>
          <p:cNvPr id="52" name="Text 50"/>
          <p:cNvSpPr/>
          <p:nvPr/>
        </p:nvSpPr>
        <p:spPr>
          <a:xfrm>
            <a:off x="6464808" y="6007608"/>
            <a:ext cx="438912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500" dirty="0"/>
          </a:p>
        </p:txBody>
      </p:sp>
      <p:sp>
        <p:nvSpPr>
          <p:cNvPr id="53" name="Text 51"/>
          <p:cNvSpPr/>
          <p:nvPr/>
        </p:nvSpPr>
        <p:spPr>
          <a:xfrm>
            <a:off x="7050024" y="5907024"/>
            <a:ext cx="44348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Browser</a:t>
            </a:r>
            <a:endParaRPr lang="en-US" sz="1350" dirty="0"/>
          </a:p>
        </p:txBody>
      </p:sp>
      <p:sp>
        <p:nvSpPr>
          <p:cNvPr id="54" name="Text 52"/>
          <p:cNvSpPr/>
          <p:nvPr/>
        </p:nvSpPr>
        <p:spPr>
          <a:xfrm>
            <a:off x="7050024" y="6217920"/>
            <a:ext cx="44348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Google Chrome or Microsoft Edge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21295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784080" y="-1188720"/>
            <a:ext cx="3840480" cy="3840480"/>
          </a:xfrm>
          <a:prstGeom prst="ellipse">
            <a:avLst/>
          </a:prstGeom>
          <a:solidFill>
            <a:srgbClr val="065A82">
              <a:alpha val="60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-1371600" y="4754880"/>
            <a:ext cx="3291840" cy="3291840"/>
          </a:xfrm>
          <a:prstGeom prst="ellipse">
            <a:avLst/>
          </a:prstGeom>
          <a:solidFill>
            <a:srgbClr val="1C7293">
              <a:alpha val="45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468880"/>
            <a:ext cx="10698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800" dirty="0"/>
          </a:p>
        </p:txBody>
      </p:sp>
      <p:sp>
        <p:nvSpPr>
          <p:cNvPr id="5" name="Shape 3"/>
          <p:cNvSpPr/>
          <p:nvPr/>
        </p:nvSpPr>
        <p:spPr>
          <a:xfrm>
            <a:off x="5349240" y="3520440"/>
            <a:ext cx="1463040" cy="0"/>
          </a:xfrm>
          <a:prstGeom prst="line">
            <a:avLst/>
          </a:prstGeom>
          <a:noFill/>
          <a:ln w="25400">
            <a:solidFill>
              <a:srgbClr val="3E82A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703320"/>
            <a:ext cx="10698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dirty="0">
                <a:solidFill>
                  <a:srgbClr val="E8F1F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Travel Time Prediction Using Ridge and Lasso Regression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731520" y="4160520"/>
            <a:ext cx="10698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AFC9D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Ch. Shanthi Swaroop   •   M. Abhi Sai Sagar   •   P. Goutham Vikas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6263640"/>
            <a:ext cx="10698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7A93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Department of Computer Science and Information Technology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b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10607040" y="-822960"/>
            <a:ext cx="2377440" cy="2377440"/>
          </a:xfrm>
          <a:prstGeom prst="ellipse">
            <a:avLst/>
          </a:prstGeom>
          <a:solidFill>
            <a:srgbClr val="E8F1F5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457200"/>
            <a:ext cx="1371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C4D8E2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640080" y="777240"/>
            <a:ext cx="73152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1295C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Dataset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685800" y="1481328"/>
            <a:ext cx="1280160" cy="0"/>
          </a:xfrm>
          <a:prstGeom prst="line">
            <a:avLst/>
          </a:prstGeom>
          <a:noFill/>
          <a:ln w="38100">
            <a:solidFill>
              <a:srgbClr val="1C7293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40080" y="1783080"/>
            <a:ext cx="6492240" cy="4480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models are trained on a dataset of 1,000 recorded trips, each describing a single journey together with its observed travel time — giving Ridge and Lasso a broad, varied sample of real-world driving conditions to learn from.</a:t>
            </a:r>
            <a:endParaRPr lang="en-US" sz="1400" dirty="0"/>
          </a:p>
          <a:p>
            <a:pPr indent="0" marL="0">
              <a:lnSpc>
                <a:spcPct val="126000"/>
              </a:lnSpc>
              <a:spcAft>
                <a:spcPts val="1000"/>
              </a:spcAft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features are captured per trip: distance (km), traffic condition, weather, day of the week, departure hour, and temperature (°C) as predictors, with travel time (minutes) as the target variable. The data is complete, with no missing values.</a:t>
            </a:r>
            <a:endParaRPr lang="en-US" sz="1400" dirty="0"/>
          </a:p>
          <a:p>
            <a:pPr indent="0" marL="0">
              <a:lnSpc>
                <a:spcPct val="126000"/>
              </a:lnSpc>
              <a:buNone/>
            </a:pPr>
            <a:r>
              <a:rPr lang="en-US" sz="1400" dirty="0">
                <a:solidFill>
                  <a:srgbClr val="1B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Distance shows the strongest relationship with travel time (r = 0.85), while traffic condition and weather add further explanatory power — the kind of correlated, multi-factor inputs Ridge and Lasso are well suited to handle.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7498080" y="1783080"/>
            <a:ext cx="4023360" cy="1965960"/>
          </a:xfrm>
          <a:prstGeom prst="roundRect">
            <a:avLst>
              <a:gd name="adj" fmla="val 4651"/>
            </a:avLst>
          </a:prstGeom>
          <a:solidFill>
            <a:srgbClr val="E8F1F5"/>
          </a:solidFill>
          <a:ln/>
        </p:spPr>
      </p:sp>
      <p:sp>
        <p:nvSpPr>
          <p:cNvPr id="8" name="Text 6"/>
          <p:cNvSpPr/>
          <p:nvPr/>
        </p:nvSpPr>
        <p:spPr>
          <a:xfrm>
            <a:off x="7726680" y="193852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SNAPSHOT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7726680" y="23591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726680" y="23591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1,000 Records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9601200" y="2359152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9601200" y="2359152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Features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726680" y="2980944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7726680" y="298094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Zero Nulls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9601200" y="2980944"/>
            <a:ext cx="1691640" cy="4572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 w="12700">
            <a:solidFill>
              <a:srgbClr val="CADCFC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601200" y="2980944"/>
            <a:ext cx="1691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065A8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min Avg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7498080" y="3977640"/>
            <a:ext cx="4023360" cy="2331720"/>
          </a:xfrm>
          <a:prstGeom prst="roundRect">
            <a:avLst>
              <a:gd name="adj" fmla="val 3922"/>
            </a:avLst>
          </a:prstGeom>
          <a:solidFill>
            <a:srgbClr val="21295C"/>
          </a:solidFill>
          <a:ln/>
        </p:spPr>
      </p:sp>
      <p:sp>
        <p:nvSpPr>
          <p:cNvPr id="18" name="Text 16"/>
          <p:cNvSpPr/>
          <p:nvPr/>
        </p:nvSpPr>
        <p:spPr>
          <a:xfrm>
            <a:off x="7726680" y="4114800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b="1" spc="150" kern="0" dirty="0">
                <a:solidFill>
                  <a:srgbClr val="8FB8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PATTERNS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26680" y="4480560"/>
            <a:ext cx="356616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High-traffic trips average 93 minutes versus 48 minutes in low traffic, and rainy weather adds roughly 30 minutes over clear skies — the exact patterns the model learns to predict ETA.</a:t>
            </a:r>
            <a:endParaRPr lang="en-US" sz="12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2026-08-20T04:51:21Z</dcterms:created>
  <dcterms:modified xsi:type="dcterms:W3CDTF">2026-08-20T04:51:21Z</dcterms:modified>
</cp:coreProperties>
</file>