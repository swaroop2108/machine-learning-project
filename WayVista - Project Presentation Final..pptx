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5" r:id="rId15"/>
    <p:sldId id="274" r:id="rId16"/>
    <p:sldId id="276" r:id="rId17"/>
    <p:sldId id="271" r:id="rId18"/>
    <p:sldId id="272" r:id="rId19"/>
    <p:sldId id="273" r:id="rId20"/>
  </p:sldIdLst>
  <p:sldSz cx="12192000" cy="6858000"/>
  <p:notesSz cx="6858000" cy="9144000"/>
  <p:embeddedFontLst>
    <p:embeddedFont>
      <p:font typeface="Plus Jakarta Sans"/>
      <p:bold r:id="rId21"/>
    </p:embeddedFont>
    <p:embeddedFont>
      <p:font typeface="Space Grotesk"/>
      <p:bold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033810"/>
            <a:ext cx="10668000" cy="145609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1999" y="4813043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09600"/>
            <a:ext cx="673510" cy="6735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1925984"/>
            <a:ext cx="310687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350" b="1" dirty="0">
                <a:solidFill>
                  <a:srgbClr val="38BDF8"/>
                </a:solidFill>
                <a:latin typeface="Plus Jakarta Sans"/>
              </a:rPr>
              <a:t>WAY-VISTA</a:t>
            </a:r>
            <a:r>
              <a:rPr sz="1350" b="1" i="0" u="none" dirty="0">
                <a:solidFill>
                  <a:srgbClr val="38BDF8"/>
                </a:solidFill>
                <a:latin typeface="Plus Jakarta Sans"/>
              </a:rPr>
              <a:t> — SMART JOURNEY PREDICTOR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297459"/>
            <a:ext cx="9701212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Space Grotesk"/>
              </a:rPr>
              <a:t>Travel Time Prediction Using Ridge &amp; Lasso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665190"/>
            <a:ext cx="9239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An intelligent transit analytics engine combining spatial routing, real-time meteorological indicators, and regularized regression models.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6133" y="5829300"/>
            <a:ext cx="4452501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1" i="0" u="none" dirty="0">
                <a:solidFill>
                  <a:srgbClr val="F1F5F9"/>
                </a:solidFill>
                <a:latin typeface="Plus Jakarta Sans"/>
              </a:rPr>
              <a:t>Department of Computer Science &amp; </a:t>
            </a:r>
            <a:r>
              <a:rPr lang="en-IN" sz="1400" b="1" dirty="0">
                <a:solidFill>
                  <a:srgbClr val="F1F5F9"/>
                </a:solidFill>
                <a:latin typeface="Plus Jakarta Sans"/>
              </a:rPr>
              <a:t>Information Technology</a:t>
            </a:r>
            <a:endParaRPr sz="1400" b="1" i="0" u="none" dirty="0">
              <a:solidFill>
                <a:srgbClr val="F1F5F9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17778" y="6075911"/>
            <a:ext cx="2174570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en-IN" sz="1600" dirty="0">
                <a:solidFill>
                  <a:srgbClr val="94A3B8"/>
                </a:solidFill>
                <a:latin typeface="Plus Jakarta Sans"/>
              </a:rPr>
              <a:t>KL University – </a:t>
            </a:r>
            <a:r>
              <a:rPr lang="en-IN" sz="1600" dirty="0" err="1">
                <a:solidFill>
                  <a:srgbClr val="94A3B8"/>
                </a:solidFill>
                <a:latin typeface="Plus Jakarta Sans"/>
              </a:rPr>
              <a:t>Bachupally</a:t>
            </a:r>
            <a:endParaRPr lang="en-IN" sz="1600" dirty="0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7464" y="5193044"/>
            <a:ext cx="21788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64748B"/>
                </a:solidFill>
                <a:latin typeface="Plus Jakarta Sans"/>
              </a:rPr>
              <a:t>PRESENTED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523728"/>
            <a:ext cx="3859161" cy="10618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1" i="0" u="none" dirty="0">
                <a:solidFill>
                  <a:srgbClr val="F1F5F9"/>
                </a:solidFill>
                <a:latin typeface="Plus Jakarta Sans"/>
              </a:rPr>
              <a:t>Ch. Shanthi Swaroop</a:t>
            </a:r>
            <a:r>
              <a:rPr lang="en-IN" sz="1350" b="1" i="0" u="none" dirty="0">
                <a:solidFill>
                  <a:srgbClr val="F1F5F9"/>
                </a:solidFill>
                <a:latin typeface="Plus Jakarta Sans"/>
              </a:rPr>
              <a:t>            </a:t>
            </a:r>
            <a:r>
              <a:rPr lang="en-IN" sz="1400" dirty="0">
                <a:solidFill>
                  <a:srgbClr val="94A3B8"/>
                </a:solidFill>
                <a:latin typeface="Plus Jakarta Sans"/>
              </a:rPr>
              <a:t>Roll No: 2520090224</a:t>
            </a:r>
          </a:p>
          <a:p>
            <a:pPr algn="l"/>
            <a:endParaRPr lang="en-IN" sz="1350" b="1" dirty="0">
              <a:solidFill>
                <a:srgbClr val="F1F5F9"/>
              </a:solidFill>
              <a:latin typeface="Plus Jakarta Sans"/>
            </a:endParaRPr>
          </a:p>
          <a:p>
            <a:r>
              <a:rPr lang="en-IN" sz="1350" b="1" i="0" u="none" dirty="0">
                <a:solidFill>
                  <a:srgbClr val="F1F5F9"/>
                </a:solidFill>
                <a:latin typeface="Plus Jakarta Sans"/>
              </a:rPr>
              <a:t>M. Abhi Sai Sagar                  </a:t>
            </a:r>
            <a:r>
              <a:rPr lang="en-IN" sz="1400" dirty="0">
                <a:solidFill>
                  <a:srgbClr val="94A3B8"/>
                </a:solidFill>
                <a:latin typeface="Plus Jakarta Sans"/>
              </a:rPr>
              <a:t>Roll No: 2520090173</a:t>
            </a:r>
          </a:p>
          <a:p>
            <a:pPr algn="l"/>
            <a:endParaRPr lang="en-IN" sz="1350" b="1" dirty="0">
              <a:solidFill>
                <a:srgbClr val="F1F5F9"/>
              </a:solidFill>
              <a:latin typeface="Plus Jakarta Sans"/>
            </a:endParaRPr>
          </a:p>
          <a:p>
            <a:r>
              <a:rPr lang="en-IN" sz="1350" b="1" i="0" u="none" dirty="0">
                <a:solidFill>
                  <a:srgbClr val="F1F5F9"/>
                </a:solidFill>
                <a:latin typeface="Plus Jakarta Sans"/>
              </a:rPr>
              <a:t>P. Goutham Vikas                  </a:t>
            </a:r>
            <a:r>
              <a:rPr lang="en-IN" sz="1400" dirty="0">
                <a:solidFill>
                  <a:srgbClr val="94A3B8"/>
                </a:solidFill>
                <a:latin typeface="Plus Jakarta Sans"/>
              </a:rPr>
              <a:t>Roll No: 2520090096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7981" y="5558298"/>
            <a:ext cx="29170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64748B"/>
                </a:solidFill>
                <a:latin typeface="Plus Jakarta Sans"/>
              </a:rPr>
              <a:t>PROJECT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7981" y="5964837"/>
            <a:ext cx="1357231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350" b="1" dirty="0">
                <a:solidFill>
                  <a:srgbClr val="F1F5F9"/>
                </a:solidFill>
                <a:latin typeface="Plus Jakarta Sans"/>
              </a:rPr>
              <a:t>Mrs. I V S L Haritha</a:t>
            </a:r>
            <a:endParaRPr sz="1350" b="1" i="0" u="none" dirty="0">
              <a:solidFill>
                <a:srgbClr val="F1F5F9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77981" y="6202962"/>
            <a:ext cx="2056653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94A3B8"/>
                </a:solidFill>
                <a:latin typeface="Plus Jakarta Sans"/>
              </a:rPr>
              <a:t>Associate Professor, Dept. of CS</a:t>
            </a:r>
            <a:r>
              <a:rPr lang="en-IN" sz="1125" b="0" i="0" u="none" dirty="0">
                <a:solidFill>
                  <a:srgbClr val="94A3B8"/>
                </a:solidFill>
                <a:latin typeface="Plus Jakarta Sans"/>
              </a:rPr>
              <a:t>&amp;IT</a:t>
            </a:r>
            <a:endParaRPr sz="1125" b="0" i="0" u="none" dirty="0">
              <a:solidFill>
                <a:srgbClr val="94A3B8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605087"/>
            <a:ext cx="3327350" cy="2686050"/>
          </a:xfrm>
          <a:prstGeom prst="roundRect">
            <a:avLst>
              <a:gd name="adj" fmla="val 56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32250" y="2605087"/>
            <a:ext cx="3327350" cy="2686050"/>
          </a:xfrm>
          <a:prstGeom prst="roundRect">
            <a:avLst>
              <a:gd name="adj" fmla="val 56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02500" y="2605087"/>
            <a:ext cx="3327350" cy="2686050"/>
          </a:xfrm>
          <a:prstGeom prst="roundRect">
            <a:avLst>
              <a:gd name="adj" fmla="val 56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2919412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6575" y="291941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6825" y="291941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575" y="3043237"/>
            <a:ext cx="26670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1825" y="3043237"/>
            <a:ext cx="26670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650" y="3043237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lus Jakarta Sans"/>
              </a:rPr>
              <a:t>PROJECT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790575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Introduction &amp; Domain 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529012"/>
            <a:ext cx="354204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Intelligent Transit 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3948112"/>
            <a:ext cx="27939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Urban transit management depends heavily on accurate Estimated Time of Arrival (ETA) predictions.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6575" y="3529012"/>
            <a:ext cx="354204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Multi-Factor Complexity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6575" y="3948112"/>
            <a:ext cx="27939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Travel time fluctuates dynamically with precipitation, temperature variations, and peak congestion levels.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6825" y="3529012"/>
            <a:ext cx="1971822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F172A"/>
                </a:solidFill>
                <a:latin typeface="Plus Jakarta Sans"/>
              </a:rPr>
              <a:t>The </a:t>
            </a:r>
            <a:r>
              <a:rPr lang="en-US" sz="1650" b="1" dirty="0" err="1">
                <a:solidFill>
                  <a:srgbClr val="0F172A"/>
                </a:solidFill>
                <a:latin typeface="Plus Jakarta Sans"/>
              </a:rPr>
              <a:t>WayVista</a:t>
            </a:r>
            <a:r>
              <a:rPr sz="1650" b="1" i="0" u="none" dirty="0">
                <a:solidFill>
                  <a:srgbClr val="0F172A"/>
                </a:solidFill>
                <a:latin typeface="Plus Jakarta Sans"/>
              </a:rPr>
              <a:t>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6825" y="3948112"/>
            <a:ext cx="27939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lightweight ML architecture predicting exact ETA durations using Ridge and Lasso feature shrinkage.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19387"/>
            <a:ext cx="3352800" cy="2457450"/>
          </a:xfrm>
          <a:prstGeom prst="roundRect">
            <a:avLst>
              <a:gd name="adj" fmla="val 6201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19600" y="2719387"/>
            <a:ext cx="3352800" cy="2457450"/>
          </a:xfrm>
          <a:prstGeom prst="roundRect">
            <a:avLst>
              <a:gd name="adj" fmla="val 6201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719387"/>
            <a:ext cx="3352800" cy="2457450"/>
          </a:xfrm>
          <a:prstGeom prst="roundRect">
            <a:avLst>
              <a:gd name="adj" fmla="val 6201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033712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925" y="3033712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033712"/>
            <a:ext cx="333375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790575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3452812"/>
            <a:ext cx="357544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991B1B"/>
                </a:solidFill>
                <a:latin typeface="Plus Jakarta Sans"/>
              </a:rPr>
              <a:t>Static Speed Assumptions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3833812"/>
            <a:ext cx="28194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7F1D1D"/>
                </a:solidFill>
                <a:latin typeface="Plus Jakarta Sans"/>
              </a:rPr>
              <a:t>Standard routing services rely on speed limits without modeling weather impact or peak hour bottlenecks.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3925" y="3452812"/>
            <a:ext cx="357544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991B1B"/>
                </a:solidFill>
                <a:latin typeface="Plus Jakarta Sans"/>
              </a:rPr>
              <a:t>Multicollinear Noise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3925" y="3833812"/>
            <a:ext cx="28194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7F1D1D"/>
                </a:solidFill>
                <a:latin typeface="Plus Jakarta Sans"/>
              </a:rPr>
              <a:t>Standard linear models overfit correlated inputs such as road distance, speed profiles, and durations.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452812"/>
            <a:ext cx="357544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991B1B"/>
                </a:solidFill>
                <a:latin typeface="Plus Jakarta Sans"/>
              </a:rPr>
              <a:t>Downstream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3833812"/>
            <a:ext cx="28194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7F1D1D"/>
                </a:solidFill>
                <a:latin typeface="Plus Jakarta Sans"/>
              </a:rPr>
              <a:t>Inaccurate ETAs cause delayed freight delivery schedules, driver fatigue, and commuter frustration.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205037"/>
            <a:ext cx="10668000" cy="971550"/>
          </a:xfrm>
          <a:prstGeom prst="roundRect">
            <a:avLst>
              <a:gd name="adj" fmla="val 13725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443287"/>
            <a:ext cx="10668000" cy="971550"/>
          </a:xfrm>
          <a:prstGeom prst="roundRect">
            <a:avLst>
              <a:gd name="adj" fmla="val 13725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4681537"/>
            <a:ext cx="10668000" cy="971550"/>
          </a:xfrm>
          <a:prstGeom prst="roundRect">
            <a:avLst>
              <a:gd name="adj" fmla="val 13725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2538412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5" y="3776662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" y="5014912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790575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Project 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725" y="2443162"/>
            <a:ext cx="105822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4532D"/>
                </a:solidFill>
                <a:latin typeface="Plus Jakarta Sans"/>
              </a:rPr>
              <a:t>Real-World Logistics Demand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9725" y="2719387"/>
            <a:ext cx="105822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66534"/>
                </a:solidFill>
                <a:latin typeface="Plus Jakarta Sans"/>
              </a:rPr>
              <a:t>Supply chain companies require accurate journey ETAs to schedule dispatch windows and warehouse labor.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9725" y="3681412"/>
            <a:ext cx="105822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3A8A"/>
                </a:solidFill>
                <a:latin typeface="Plus Jakarta Sans"/>
              </a:rPr>
              <a:t>Interpretability vs Black-Box Neural Nets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9725" y="3957637"/>
            <a:ext cx="1041796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E40AF"/>
                </a:solidFill>
                <a:latin typeface="Plus Jakarta Sans"/>
              </a:rPr>
              <a:t>Regularized linear estimators provide transparent feature weights and sub-millisecond inference speeds.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725" y="4919662"/>
            <a:ext cx="105822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81C87"/>
                </a:solidFill>
                <a:latin typeface="Plus Jakarta Sans"/>
              </a:rPr>
              <a:t>Lightweight Production Feasibility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9725" y="5195887"/>
            <a:ext cx="105822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B21A8"/>
                </a:solidFill>
                <a:latin typeface="Plus Jakarta Sans"/>
              </a:rPr>
              <a:t>Deployable on low-cost edge servers without requiring expensive GPU infrastructure or complex pipelines.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081212"/>
            <a:ext cx="10668000" cy="781050"/>
          </a:xfrm>
          <a:prstGeom prst="roundRect">
            <a:avLst>
              <a:gd name="adj" fmla="val 146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052762"/>
            <a:ext cx="10668000" cy="781050"/>
          </a:xfrm>
          <a:prstGeom prst="roundRect">
            <a:avLst>
              <a:gd name="adj" fmla="val 146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4024312"/>
            <a:ext cx="10668000" cy="781050"/>
          </a:xfrm>
          <a:prstGeom prst="roundRect">
            <a:avLst>
              <a:gd name="adj" fmla="val 146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4995862"/>
            <a:ext cx="10668000" cy="781050"/>
          </a:xfrm>
          <a:prstGeom prst="roundRect">
            <a:avLst>
              <a:gd name="adj" fmla="val 146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38225" y="2281237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38225" y="3252787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38225" y="4224337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38225" y="5195887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2000" y="790575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Project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2281237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Plus Jakarta San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9725" y="2362200"/>
            <a:ext cx="105822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Develop a unified ETL pipeline querying OpenStreetMap, OSRM routes, and Open-Meteo weather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350" y="3252787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Plus Jakarta San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9725" y="3333750"/>
            <a:ext cx="105822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Train and hyperparameter-tune regularized Ridge (L2) and Lasso (L1) regression models using 5-fold CV.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350" y="4224337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Plus Jakarta San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9725" y="4305300"/>
            <a:ext cx="105822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Implement out-of-distribution guards alerting users when trip distances exceed the 50 km training threshold.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350" y="5195887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Plus Jakarta San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9725" y="5276850"/>
            <a:ext cx="105822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Deploy a responsive FastAPI application with live Leaflet route mapping and side-by-side OSRM benchmark.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557462"/>
            <a:ext cx="5162550" cy="2743200"/>
          </a:xfrm>
          <a:prstGeom prst="roundRect">
            <a:avLst>
              <a:gd name="adj" fmla="val 555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67450" y="2557462"/>
            <a:ext cx="5162550" cy="2743200"/>
          </a:xfrm>
          <a:prstGeom prst="roundRect">
            <a:avLst>
              <a:gd name="adj" fmla="val 5555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2928937"/>
            <a:ext cx="257175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875" y="2928937"/>
            <a:ext cx="22860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790575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Existing System &amp; Drawbacks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" y="2909887"/>
            <a:ext cx="307538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Standard Routing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7775" y="3343275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3025" y="3367087"/>
            <a:ext cx="4324350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Static Speed Graphs: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Compute transit time strictly via posted road speed averages.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7775" y="3914775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3025" y="3938587"/>
            <a:ext cx="4324350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Single Heuristic: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Pure shortest-path Dijkstra algorithms ignoring weather severity.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7775" y="4486275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3025" y="4510087"/>
            <a:ext cx="4324350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Deterministic ETA: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Fails to adapt to temporal variations like morning peak hours.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2775" y="2909887"/>
            <a:ext cx="330041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991B1B"/>
                </a:solidFill>
                <a:latin typeface="Plus Jakarta Sans"/>
              </a:rPr>
              <a:t>Operational Deficiencies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3225" y="3343275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7F1D1D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8475" y="3367087"/>
            <a:ext cx="4324350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7F1D1D"/>
                </a:solidFill>
                <a:latin typeface="Plus Jakarta Sans"/>
              </a:rPr>
              <a:t>High Error Spikes:</a:t>
            </a:r>
            <a:r>
              <a:rPr sz="1350" b="0" i="0" u="none">
                <a:solidFill>
                  <a:srgbClr val="7F1D1D"/>
                </a:solidFill>
                <a:latin typeface="Plus Jakarta Sans"/>
              </a:rPr>
              <a:t> ETAs deviate by 20% to 45% during rain storms.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3225" y="3914775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7F1D1D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8475" y="3938587"/>
            <a:ext cx="4324350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7F1D1D"/>
                </a:solidFill>
                <a:latin typeface="Plus Jakarta Sans"/>
              </a:rPr>
              <a:t>Rigid Assumptions:</a:t>
            </a:r>
            <a:r>
              <a:rPr sz="1350" b="0" i="0" u="none">
                <a:solidFill>
                  <a:srgbClr val="7F1D1D"/>
                </a:solidFill>
                <a:latin typeface="Plus Jakarta Sans"/>
              </a:rPr>
              <a:t> Incapable of continuous tuning to historical driver datasets.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3225" y="4486275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7F1D1D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8475" y="4510087"/>
            <a:ext cx="4324350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7F1D1D"/>
                </a:solidFill>
                <a:latin typeface="Plus Jakarta Sans"/>
              </a:rPr>
              <a:t>No Confidence Range:</a:t>
            </a:r>
            <a:r>
              <a:rPr sz="1350" b="0" i="0" u="none">
                <a:solidFill>
                  <a:srgbClr val="7F1D1D"/>
                </a:solidFill>
                <a:latin typeface="Plus Jakarta Sans"/>
              </a:rPr>
              <a:t> Lacks out-of-distribution alerts when queries leave typical zones.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00337"/>
            <a:ext cx="3352800" cy="2457450"/>
          </a:xfrm>
          <a:prstGeom prst="roundRect">
            <a:avLst>
              <a:gd name="adj" fmla="val 620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19600" y="2700337"/>
            <a:ext cx="3352800" cy="2457450"/>
          </a:xfrm>
          <a:prstGeom prst="roundRect">
            <a:avLst>
              <a:gd name="adj" fmla="val 620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700337"/>
            <a:ext cx="3352800" cy="2457450"/>
          </a:xfrm>
          <a:prstGeom prst="roundRect">
            <a:avLst>
              <a:gd name="adj" fmla="val 620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014662"/>
            <a:ext cx="272415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925" y="3014662"/>
            <a:ext cx="272415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014662"/>
            <a:ext cx="272415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790575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Proposed System: VoyageML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3414712"/>
            <a:ext cx="357544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4532D"/>
                </a:solidFill>
                <a:latin typeface="Plus Jakarta Sans"/>
              </a:rPr>
              <a:t>Dynamic Feature Blending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3814762"/>
            <a:ext cx="28194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166534"/>
                </a:solidFill>
                <a:latin typeface="Plus Jakarta Sans"/>
              </a:rPr>
              <a:t>Integrates physical road distance with live precipitation, ambient temperature, and congestion indices.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3925" y="3414712"/>
            <a:ext cx="357544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4532D"/>
                </a:solidFill>
                <a:latin typeface="Plus Jakarta Sans"/>
              </a:rPr>
              <a:t>Dual Regularized Engines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3925" y="3814762"/>
            <a:ext cx="28194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166534"/>
                </a:solidFill>
                <a:latin typeface="Plus Jakarta Sans"/>
              </a:rPr>
              <a:t>Deploys L2 Ridge to handle collinearity and L1 Lasso to eliminate 4 zero-impact redundant features.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414712"/>
            <a:ext cx="357544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4532D"/>
                </a:solidFill>
                <a:latin typeface="Plus Jakarta Sans"/>
              </a:rPr>
              <a:t>Safeguarded Inference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3814762"/>
            <a:ext cx="2819400" cy="751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166534"/>
                </a:solidFill>
                <a:latin typeface="Plus Jakarta Sans"/>
              </a:rPr>
              <a:t>Evaluates trip boundaries and issues clear OOD warnings whenever input paths exceed </a:t>
            </a:r>
            <a:r>
              <a:rPr lang="en-US" sz="1350" b="0" i="0" u="none" dirty="0">
                <a:solidFill>
                  <a:srgbClr val="166534"/>
                </a:solidFill>
                <a:latin typeface="Plus Jakarta Sans"/>
              </a:rPr>
              <a:t>200</a:t>
            </a:r>
            <a:r>
              <a:rPr sz="1350" b="0" i="0" u="none" dirty="0">
                <a:solidFill>
                  <a:srgbClr val="166534"/>
                </a:solidFill>
                <a:latin typeface="Plus Jakarta Sans"/>
              </a:rPr>
              <a:t>0 km training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4695825"/>
            <a:ext cx="10668000" cy="552450"/>
          </a:xfrm>
          <a:prstGeom prst="roundRect">
            <a:avLst>
              <a:gd name="adj" fmla="val 2068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609850"/>
            <a:ext cx="2245518" cy="1895475"/>
          </a:xfrm>
          <a:prstGeom prst="roundRect">
            <a:avLst>
              <a:gd name="adj" fmla="val 70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569493" y="2609850"/>
            <a:ext cx="2245518" cy="1895475"/>
          </a:xfrm>
          <a:prstGeom prst="roundRect">
            <a:avLst>
              <a:gd name="adj" fmla="val 70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76987" y="2609850"/>
            <a:ext cx="2245518" cy="1895475"/>
          </a:xfrm>
          <a:prstGeom prst="roundRect">
            <a:avLst>
              <a:gd name="adj" fmla="val 70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84481" y="2609850"/>
            <a:ext cx="2245518" cy="1895475"/>
          </a:xfrm>
          <a:prstGeom prst="roundRect">
            <a:avLst>
              <a:gd name="adj" fmla="val 7035"/>
            </a:avLst>
          </a:prstGeom>
          <a:solidFill>
            <a:srgbClr val="F8FAFC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018" y="3452812"/>
            <a:ext cx="180975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512" y="3452812"/>
            <a:ext cx="18097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3006" y="3452812"/>
            <a:ext cx="18097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790575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System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142875" y="4867275"/>
            <a:ext cx="124777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334155"/>
                </a:solidFill>
                <a:latin typeface="Plus Jakarta Sans"/>
              </a:rPr>
              <a:t>Data Pipeline Rule: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Automatic fallback to pre-cached coordinates and Haversine distance if external APIs timeout.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6456" y="2847975"/>
            <a:ext cx="117660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 dirty="0">
                <a:solidFill>
                  <a:srgbClr val="0070C0"/>
                </a:solidFill>
                <a:latin typeface="Plus Jakarta Sans"/>
              </a:rPr>
              <a:t>TIER 1: CLIENT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676" y="3095625"/>
            <a:ext cx="232216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Interactive Web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8966" y="3409950"/>
            <a:ext cx="221158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Plus Jakarta Sans"/>
              </a:rPr>
              <a:t>HTML5, CSS3, Vanilla JS, Leaflet.js Map Viewer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07156" y="2847975"/>
            <a:ext cx="117019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 dirty="0">
                <a:solidFill>
                  <a:srgbClr val="0070C0"/>
                </a:solidFill>
                <a:latin typeface="Plus Jakarta Sans"/>
              </a:rPr>
              <a:t>TIER 2: BACKEND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1170" y="3095625"/>
            <a:ext cx="232216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Space Grotesk"/>
              </a:rPr>
              <a:t>FastAPI Application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6460" y="3667125"/>
            <a:ext cx="221158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Plus Jakarta Sans"/>
              </a:rPr>
              <a:t>Uvicorn, Pydantic Schema Validation, Error Interceptor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922" y="2847975"/>
            <a:ext cx="151964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 dirty="0">
                <a:solidFill>
                  <a:srgbClr val="0070C0"/>
                </a:solidFill>
                <a:latin typeface="Plus Jakarta Sans"/>
              </a:rPr>
              <a:t>TIER 3: SERVICE INGESTION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8664" y="3095625"/>
            <a:ext cx="2322165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Geo &amp; Weather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3953" y="3648075"/>
            <a:ext cx="221158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Plus Jakarta Sans"/>
              </a:rPr>
              <a:t>OSRM Waypoints, Nominatim Geocoder, Open-Meteo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1447" y="2847975"/>
            <a:ext cx="221158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2563EB"/>
                </a:solidFill>
                <a:latin typeface="Plus Jakarta Sans"/>
              </a:rPr>
              <a:t>TIER 4: ML 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1596" y="3095625"/>
            <a:ext cx="143128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 dirty="0">
                <a:latin typeface="Plus Jakarta Sans"/>
              </a:rPr>
              <a:t>Inference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8415" y="3590925"/>
            <a:ext cx="221158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Plus Jakarta Sans"/>
              </a:rPr>
              <a:t>Ridge / Lasso PKL Models, Decision Tree &amp; Scalers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895599"/>
            <a:ext cx="1981200" cy="2066925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933700" y="2895600"/>
            <a:ext cx="1981200" cy="2066925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105400" y="2886075"/>
            <a:ext cx="1981200" cy="2085975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72350" y="2865032"/>
            <a:ext cx="1981200" cy="2085975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C0C0C0"/>
              </a:highlight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639300" y="2865032"/>
            <a:ext cx="1981200" cy="2066925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bg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86230" y="3140868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752850" y="313372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871787" y="313372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96249" y="3136106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05770" y="3118438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762000" y="790575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End-to-End Methodology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43355" y="3118438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 dirty="0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238" y="3611399"/>
            <a:ext cx="207525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User 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879" y="3908019"/>
            <a:ext cx="1976437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Source, destination, &amp; scheduled departure time entered.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9975" y="3228975"/>
            <a:ext cx="6286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 dirty="0">
                <a:solidFill>
                  <a:schemeClr val="bg1"/>
                </a:solidFill>
                <a:latin typeface="Plus Jakarta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6030" y="3590925"/>
            <a:ext cx="207525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Geocoding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6081" y="3924300"/>
            <a:ext cx="1976437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Plus Jakarta Sans"/>
              </a:rPr>
              <a:t>Coordinates extracted; OSRM queries road geometry.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28912" y="3219985"/>
            <a:ext cx="6286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 dirty="0">
                <a:solidFill>
                  <a:schemeClr val="bg1"/>
                </a:solidFill>
                <a:latin typeface="Plus Jakarta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8370" y="3619500"/>
            <a:ext cx="207525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Environment Ingestion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3677" y="3952414"/>
            <a:ext cx="1976437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Real-time weather, temperature, and rain levels extracted.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3070" y="3197555"/>
            <a:ext cx="6286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 dirty="0">
                <a:solidFill>
                  <a:schemeClr val="bg1"/>
                </a:solidFill>
                <a:latin typeface="Plus Jakarta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0071" y="3619500"/>
            <a:ext cx="207525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Model Inference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7113" y="3955332"/>
            <a:ext cx="1976437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Lasso and Ridge estimators predict duration in minutes.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62895" y="3197555"/>
            <a:ext cx="6286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 dirty="0">
                <a:solidFill>
                  <a:schemeClr val="bg1"/>
                </a:solidFill>
                <a:latin typeface="Plus Jakarta San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689" y="3629025"/>
            <a:ext cx="134742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 dirty="0">
                <a:latin typeface="Plus Jakarta Sans"/>
              </a:rPr>
              <a:t>ETA &amp; Map Display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91079" y="3924300"/>
            <a:ext cx="1976437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Arrival timestamp, Leaflet waypoints, and OSRM delta rendered.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912268"/>
            <a:ext cx="2466975" cy="2033587"/>
          </a:xfrm>
          <a:prstGeom prst="roundRect">
            <a:avLst>
              <a:gd name="adj" fmla="val 74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95675" y="2912268"/>
            <a:ext cx="2466975" cy="2033587"/>
          </a:xfrm>
          <a:prstGeom prst="roundRect">
            <a:avLst>
              <a:gd name="adj" fmla="val 74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29350" y="2912268"/>
            <a:ext cx="2466975" cy="2033587"/>
          </a:xfrm>
          <a:prstGeom prst="roundRect">
            <a:avLst>
              <a:gd name="adj" fmla="val 74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3025" y="3033712"/>
            <a:ext cx="2466975" cy="1790700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3188493"/>
            <a:ext cx="2667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0" y="3188493"/>
            <a:ext cx="2667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575" y="3188493"/>
            <a:ext cx="3048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0" y="3309937"/>
            <a:ext cx="3429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790575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Technology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3626643"/>
            <a:ext cx="251281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Python &amp; ML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3940968"/>
            <a:ext cx="2009775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Python 3.10+, Scikit-Learn 1.4, Pandas 2.2, NumPy 1.26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1900" y="3626643"/>
            <a:ext cx="251281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Backend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1900" y="3940968"/>
            <a:ext cx="2009775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FastAPI 0.110, Uvicorn ASGI, Pydantic, Python-Dotenv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5575" y="3626643"/>
            <a:ext cx="251281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Geospatial APIs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5575" y="3940968"/>
            <a:ext cx="2009775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OSRM Routing Engine, Open-Meteo, OpenStreetMap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0" y="3748087"/>
            <a:ext cx="251281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Frontend &amp;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0" y="4062412"/>
            <a:ext cx="20097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HTML5, CSS3, JavaScript ES6, Leaflet.js Mapping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621756"/>
            <a:ext cx="2466975" cy="2614612"/>
          </a:xfrm>
          <a:prstGeom prst="roundRect">
            <a:avLst>
              <a:gd name="adj" fmla="val 61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95675" y="2621756"/>
            <a:ext cx="2466975" cy="2614612"/>
          </a:xfrm>
          <a:prstGeom prst="roundRect">
            <a:avLst>
              <a:gd name="adj" fmla="val 61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29350" y="2743200"/>
            <a:ext cx="2466975" cy="2371725"/>
          </a:xfrm>
          <a:prstGeom prst="roundRect">
            <a:avLst>
              <a:gd name="adj" fmla="val 642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3025" y="2621756"/>
            <a:ext cx="2466975" cy="2614612"/>
          </a:xfrm>
          <a:prstGeom prst="roundRect">
            <a:avLst>
              <a:gd name="adj" fmla="val 61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2897981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0" y="2897981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575" y="3019425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0" y="2897981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475" y="2993231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3337" y="2993231"/>
            <a:ext cx="23812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4637" y="3114675"/>
            <a:ext cx="14287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0212" y="2993231"/>
            <a:ext cx="219075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2000" y="790575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System Modules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8225" y="3393281"/>
            <a:ext cx="251281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Trip Planner 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225" y="3745706"/>
            <a:ext cx="2009775" cy="1214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Origin-destination input validation, departure picker, and traffic density override switches.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1900" y="3393281"/>
            <a:ext cx="251281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Live Data Harvester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1900" y="3745706"/>
            <a:ext cx="2009775" cy="1214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Fetches waypoint coordinates, road distance, elevation, and hourly weather parameters.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5575" y="3514725"/>
            <a:ext cx="251281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Predictive 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5575" y="3867150"/>
            <a:ext cx="2009775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Applies learned Ridge and Lasso coefficients to produce calibrated duration predictions.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0" y="3393281"/>
            <a:ext cx="251281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Map &amp; Telemetry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9250" y="3745706"/>
            <a:ext cx="2009775" cy="1214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Renders interactive Leaflet polylines alongside API duration and OOD limitation alerts.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700981"/>
            <a:ext cx="10668000" cy="4247535"/>
          </a:xfrm>
          <a:prstGeom prst="roundRect">
            <a:avLst>
              <a:gd name="adj" fmla="val 0"/>
            </a:avLst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790575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Dataset &amp; Feature Schema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3A7023-3A27-AC60-5A56-5BCE177A6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00982"/>
            <a:ext cx="10741741" cy="42475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490787"/>
            <a:ext cx="5162550" cy="2876550"/>
          </a:xfrm>
          <a:prstGeom prst="roundRect">
            <a:avLst>
              <a:gd name="adj" fmla="val 529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67450" y="2490787"/>
            <a:ext cx="5162550" cy="2876550"/>
          </a:xfrm>
          <a:prstGeom prst="roundRect">
            <a:avLst>
              <a:gd name="adj" fmla="val 529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76325" y="4271962"/>
            <a:ext cx="4533900" cy="428625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1775" y="4271962"/>
            <a:ext cx="4533900" cy="428625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790575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Space Grotesk"/>
              </a:rPr>
              <a:t>Regularization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2805112"/>
            <a:ext cx="5667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L2 REGULARIZATION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3128962"/>
            <a:ext cx="5950743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Space Grotesk"/>
              </a:rPr>
              <a:t>Ridge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3605212"/>
            <a:ext cx="46291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Adds squared magnitude penalty (λ||w||₂²) to stabilize weights amidst correlated variables.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0625" y="4386262"/>
            <a:ext cx="44005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monospace"/>
              </a:rPr>
              <a:t>Loss = MSE + α * Σ(wᵢ²)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4852987"/>
            <a:ext cx="5667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Plus Jakarta Sans"/>
              </a:rPr>
              <a:t>Optimal α:</a:t>
            </a:r>
            <a:r>
              <a:rPr sz="1200" b="0" i="0" u="none">
                <a:solidFill>
                  <a:srgbClr val="64748B"/>
                </a:solidFill>
                <a:latin typeface="Plus Jakarta Sans"/>
              </a:rPr>
              <a:t> 2.1544 tuned via 5-Fold Cross Validation.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1775" y="2805112"/>
            <a:ext cx="56102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L1 REGULARIZATION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1775" y="3128962"/>
            <a:ext cx="5610225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Space Grotesk"/>
              </a:rPr>
              <a:t>Lasso Regression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1775" y="3605212"/>
            <a:ext cx="46291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Applies absolute weight penalty (λ||w||₁) enforcing true feature sparsity.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6075" y="4386262"/>
            <a:ext cx="44005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monospace"/>
              </a:rPr>
              <a:t>Loss = MSE + α * Σ|wᵢ|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1775" y="4852987"/>
            <a:ext cx="56102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Plus Jakarta Sans"/>
              </a:rPr>
              <a:t>Optimal α:</a:t>
            </a:r>
            <a:r>
              <a:rPr sz="1200" b="0" i="0" u="none">
                <a:solidFill>
                  <a:srgbClr val="64748B"/>
                </a:solidFill>
                <a:latin typeface="Plus Jakarta Sans"/>
              </a:rPr>
              <a:t> 0.0187 — zeroes out 4 non-informative indicators.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ECC430A-056C-4875-AAF8-4885A76AD429}"/>
              </a:ext>
            </a:extLst>
          </p:cNvPr>
          <p:cNvSpPr/>
          <p:nvPr/>
        </p:nvSpPr>
        <p:spPr>
          <a:xfrm>
            <a:off x="762000" y="1336700"/>
            <a:ext cx="2552700" cy="76200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4ED8E91-5AAE-CF7D-AF0B-3B036F735FCE}"/>
              </a:ext>
            </a:extLst>
          </p:cNvPr>
          <p:cNvSpPr/>
          <p:nvPr/>
        </p:nvSpPr>
        <p:spPr>
          <a:xfrm>
            <a:off x="3467100" y="1336700"/>
            <a:ext cx="2552700" cy="76200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C7ECEE2-BF16-2116-98F9-17DEED8B22D8}"/>
              </a:ext>
            </a:extLst>
          </p:cNvPr>
          <p:cNvSpPr/>
          <p:nvPr/>
        </p:nvSpPr>
        <p:spPr>
          <a:xfrm>
            <a:off x="6172200" y="1336700"/>
            <a:ext cx="2552700" cy="76200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B80A8C4-65F5-1250-4CBF-863718C37EED}"/>
              </a:ext>
            </a:extLst>
          </p:cNvPr>
          <p:cNvSpPr/>
          <p:nvPr/>
        </p:nvSpPr>
        <p:spPr>
          <a:xfrm>
            <a:off x="8877300" y="1336700"/>
            <a:ext cx="2552700" cy="76200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6B106C3-FC3F-FFDE-E691-D9C9C9FB1AE4}"/>
              </a:ext>
            </a:extLst>
          </p:cNvPr>
          <p:cNvSpPr/>
          <p:nvPr/>
        </p:nvSpPr>
        <p:spPr>
          <a:xfrm>
            <a:off x="762000" y="2492350"/>
            <a:ext cx="5805338" cy="3028950"/>
          </a:xfrm>
          <a:prstGeom prst="roundRect">
            <a:avLst>
              <a:gd name="adj" fmla="val 44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BD997B4-9690-678E-B6A1-23A80EFDCD4C}"/>
              </a:ext>
            </a:extLst>
          </p:cNvPr>
          <p:cNvSpPr/>
          <p:nvPr/>
        </p:nvSpPr>
        <p:spPr>
          <a:xfrm>
            <a:off x="6795938" y="2492350"/>
            <a:ext cx="4634061" cy="1250156"/>
          </a:xfrm>
          <a:prstGeom prst="roundRect">
            <a:avLst>
              <a:gd name="adj" fmla="val 10666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FF97DFE-2BAC-54BC-D39C-3E28D5D20E9B}"/>
              </a:ext>
            </a:extLst>
          </p:cNvPr>
          <p:cNvSpPr/>
          <p:nvPr/>
        </p:nvSpPr>
        <p:spPr>
          <a:xfrm>
            <a:off x="6795938" y="3875857"/>
            <a:ext cx="4634061" cy="1250156"/>
          </a:xfrm>
          <a:prstGeom prst="roundRect">
            <a:avLst>
              <a:gd name="adj" fmla="val 10666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7A30ED-1845-3792-25A3-19DCEAC5B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963" y="2701900"/>
            <a:ext cx="142875" cy="1619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0DCCD0-745B-FDE0-D7D2-BD9A15714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963" y="4085407"/>
            <a:ext cx="161925" cy="161925"/>
          </a:xfrm>
          <a:prstGeom prst="rect">
            <a:avLst/>
          </a:prstGeom>
        </p:spPr>
      </p:pic>
      <p:pic>
        <p:nvPicPr>
          <p:cNvPr id="12" name="table">
            <a:extLst>
              <a:ext uri="{FF2B5EF4-FFF2-40B4-BE49-F238E27FC236}">
                <a16:creationId xmlns:a16="http://schemas.microsoft.com/office/drawing/2014/main" id="{0897933B-A87C-083E-1757-623EDF3CAD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3025750"/>
            <a:ext cx="5329087" cy="1857375"/>
          </a:xfrm>
          <a:prstGeom prst="rect">
            <a:avLst/>
          </a:prstGeom>
        </p:spPr>
      </p:pic>
      <p:sp>
        <p:nvSpPr>
          <p:cNvPr id="13" name="TextBox 17">
            <a:extLst>
              <a:ext uri="{FF2B5EF4-FFF2-40B4-BE49-F238E27FC236}">
                <a16:creationId xmlns:a16="http://schemas.microsoft.com/office/drawing/2014/main" id="{6B4583B0-4A68-9568-E974-2244A19287A7}"/>
              </a:ext>
            </a:extLst>
          </p:cNvPr>
          <p:cNvSpPr txBox="1"/>
          <p:nvPr/>
        </p:nvSpPr>
        <p:spPr>
          <a:xfrm>
            <a:off x="942975" y="1479575"/>
            <a:ext cx="27384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LASSO R² VARIANCE</a:t>
            </a:r>
          </a:p>
        </p:txBody>
      </p:sp>
      <p:sp>
        <p:nvSpPr>
          <p:cNvPr id="14" name="TextBox 18">
            <a:extLst>
              <a:ext uri="{FF2B5EF4-FFF2-40B4-BE49-F238E27FC236}">
                <a16:creationId xmlns:a16="http://schemas.microsoft.com/office/drawing/2014/main" id="{2885F995-11C4-47D0-ADD4-9DA75C9D026A}"/>
              </a:ext>
            </a:extLst>
          </p:cNvPr>
          <p:cNvSpPr txBox="1"/>
          <p:nvPr/>
        </p:nvSpPr>
        <p:spPr>
          <a:xfrm>
            <a:off x="942975" y="1670075"/>
            <a:ext cx="2738437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250"/>
              </a:lnSpc>
            </a:pPr>
            <a:r>
              <a:rPr sz="2250" b="1" i="0" u="none">
                <a:solidFill>
                  <a:srgbClr val="059669"/>
                </a:solidFill>
                <a:latin typeface="Space Grotesk"/>
              </a:rPr>
              <a:t>91.05%</a:t>
            </a:r>
          </a:p>
        </p:txBody>
      </p:sp>
      <p:sp>
        <p:nvSpPr>
          <p:cNvPr id="15" name="TextBox 19">
            <a:extLst>
              <a:ext uri="{FF2B5EF4-FFF2-40B4-BE49-F238E27FC236}">
                <a16:creationId xmlns:a16="http://schemas.microsoft.com/office/drawing/2014/main" id="{A7A4587F-63B8-81C5-871C-76C8724E59E3}"/>
              </a:ext>
            </a:extLst>
          </p:cNvPr>
          <p:cNvSpPr txBox="1"/>
          <p:nvPr/>
        </p:nvSpPr>
        <p:spPr>
          <a:xfrm>
            <a:off x="3648075" y="1479575"/>
            <a:ext cx="27384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RIDGE R² VARIANCE</a:t>
            </a:r>
          </a:p>
        </p:txBody>
      </p:sp>
      <p:sp>
        <p:nvSpPr>
          <p:cNvPr id="16" name="TextBox 20">
            <a:extLst>
              <a:ext uri="{FF2B5EF4-FFF2-40B4-BE49-F238E27FC236}">
                <a16:creationId xmlns:a16="http://schemas.microsoft.com/office/drawing/2014/main" id="{CAB63C6E-B8D6-D11C-349C-095A36590434}"/>
              </a:ext>
            </a:extLst>
          </p:cNvPr>
          <p:cNvSpPr txBox="1"/>
          <p:nvPr/>
        </p:nvSpPr>
        <p:spPr>
          <a:xfrm>
            <a:off x="3648075" y="1670075"/>
            <a:ext cx="2738437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250"/>
              </a:lnSpc>
            </a:pPr>
            <a:r>
              <a:rPr sz="2250" b="1" i="0" u="none">
                <a:solidFill>
                  <a:srgbClr val="2563EB"/>
                </a:solidFill>
                <a:latin typeface="Space Grotesk"/>
              </a:rPr>
              <a:t>91.04%</a:t>
            </a:r>
          </a:p>
        </p:txBody>
      </p:sp>
      <p:sp>
        <p:nvSpPr>
          <p:cNvPr id="17" name="TextBox 21">
            <a:extLst>
              <a:ext uri="{FF2B5EF4-FFF2-40B4-BE49-F238E27FC236}">
                <a16:creationId xmlns:a16="http://schemas.microsoft.com/office/drawing/2014/main" id="{6717DA55-3BDC-61A2-393F-01E964A3B81C}"/>
              </a:ext>
            </a:extLst>
          </p:cNvPr>
          <p:cNvSpPr txBox="1"/>
          <p:nvPr/>
        </p:nvSpPr>
        <p:spPr>
          <a:xfrm>
            <a:off x="6353175" y="1479575"/>
            <a:ext cx="27384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RIDGE MIN MAE</a:t>
            </a:r>
          </a:p>
        </p:txBody>
      </p:sp>
      <p:sp>
        <p:nvSpPr>
          <p:cNvPr id="18" name="TextBox 22">
            <a:extLst>
              <a:ext uri="{FF2B5EF4-FFF2-40B4-BE49-F238E27FC236}">
                <a16:creationId xmlns:a16="http://schemas.microsoft.com/office/drawing/2014/main" id="{9B74F761-4776-240D-5EA3-C1FA65FC61E4}"/>
              </a:ext>
            </a:extLst>
          </p:cNvPr>
          <p:cNvSpPr txBox="1"/>
          <p:nvPr/>
        </p:nvSpPr>
        <p:spPr>
          <a:xfrm>
            <a:off x="6353175" y="1670075"/>
            <a:ext cx="2738437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250"/>
              </a:lnSpc>
            </a:pPr>
            <a:r>
              <a:rPr sz="2250" b="1" i="0" u="none">
                <a:solidFill>
                  <a:srgbClr val="0F172A"/>
                </a:solidFill>
                <a:latin typeface="Space Grotesk"/>
              </a:rPr>
              <a:t>9.63 min</a:t>
            </a:r>
          </a:p>
        </p:txBody>
      </p:sp>
      <p:sp>
        <p:nvSpPr>
          <p:cNvPr id="19" name="TextBox 25">
            <a:extLst>
              <a:ext uri="{FF2B5EF4-FFF2-40B4-BE49-F238E27FC236}">
                <a16:creationId xmlns:a16="http://schemas.microsoft.com/office/drawing/2014/main" id="{373BC463-41E8-C7AE-2960-E1F6BFB49380}"/>
              </a:ext>
            </a:extLst>
          </p:cNvPr>
          <p:cNvSpPr txBox="1"/>
          <p:nvPr/>
        </p:nvSpPr>
        <p:spPr>
          <a:xfrm>
            <a:off x="1000125" y="4978375"/>
            <a:ext cx="5424338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Lasso delivers identical predictive variance with a simpler, zero-baggage feature representation.</a:t>
            </a: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F382840E-9234-1E3F-97C7-BA572DE9E94E}"/>
              </a:ext>
            </a:extLst>
          </p:cNvPr>
          <p:cNvSpPr txBox="1"/>
          <p:nvPr/>
        </p:nvSpPr>
        <p:spPr>
          <a:xfrm>
            <a:off x="1000125" y="2692375"/>
            <a:ext cx="699442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Comparative Test Metrics</a:t>
            </a:r>
          </a:p>
        </p:txBody>
      </p:sp>
      <p:sp>
        <p:nvSpPr>
          <p:cNvPr id="21" name="TextBox 28">
            <a:extLst>
              <a:ext uri="{FF2B5EF4-FFF2-40B4-BE49-F238E27FC236}">
                <a16:creationId xmlns:a16="http://schemas.microsoft.com/office/drawing/2014/main" id="{0EAA3069-5A8B-090E-1DA9-BFC6996288A2}"/>
              </a:ext>
            </a:extLst>
          </p:cNvPr>
          <p:cNvSpPr txBox="1"/>
          <p:nvPr/>
        </p:nvSpPr>
        <p:spPr>
          <a:xfrm>
            <a:off x="6995963" y="2940025"/>
            <a:ext cx="4329261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1E40AF"/>
                </a:solidFill>
                <a:latin typeface="Plus Jakarta Sans"/>
              </a:rPr>
              <a:t>Continuous travel time regression requires R², MAE, and RMSE benchmarks rather than classification metrics like Accuracy or F1-Score.</a:t>
            </a:r>
          </a:p>
        </p:txBody>
      </p:sp>
      <p:sp>
        <p:nvSpPr>
          <p:cNvPr id="22" name="TextBox 30">
            <a:extLst>
              <a:ext uri="{FF2B5EF4-FFF2-40B4-BE49-F238E27FC236}">
                <a16:creationId xmlns:a16="http://schemas.microsoft.com/office/drawing/2014/main" id="{13411B81-0920-28C5-108D-FE1A969DF4D6}"/>
              </a:ext>
            </a:extLst>
          </p:cNvPr>
          <p:cNvSpPr txBox="1"/>
          <p:nvPr/>
        </p:nvSpPr>
        <p:spPr>
          <a:xfrm>
            <a:off x="6995963" y="4323532"/>
            <a:ext cx="4329261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166534"/>
                </a:solidFill>
                <a:latin typeface="Plus Jakarta Sans"/>
              </a:rPr>
              <a:t>Standard navigation algorithms ignore weather dampening and temporal peaks; WayVista combines real-time weather and OSRM geometry.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7BF1AB-769E-9CD8-0AB4-FB49D6497F76}"/>
              </a:ext>
            </a:extLst>
          </p:cNvPr>
          <p:cNvSpPr txBox="1"/>
          <p:nvPr/>
        </p:nvSpPr>
        <p:spPr>
          <a:xfrm>
            <a:off x="762000" y="547494"/>
            <a:ext cx="442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F172A"/>
                </a:solidFill>
                <a:latin typeface="Space Grotesk"/>
              </a:rPr>
              <a:t>Results &amp; </a:t>
            </a:r>
            <a:r>
              <a:rPr lang="en-IN" b="1" dirty="0" err="1">
                <a:solidFill>
                  <a:srgbClr val="0F172A"/>
                </a:solidFill>
                <a:latin typeface="Space Grotesk"/>
              </a:rPr>
              <a:t>Comparision</a:t>
            </a:r>
            <a:endParaRPr lang="en-IN" b="1" dirty="0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25" name="Rounded Rectangle 1">
            <a:extLst>
              <a:ext uri="{FF2B5EF4-FFF2-40B4-BE49-F238E27FC236}">
                <a16:creationId xmlns:a16="http://schemas.microsoft.com/office/drawing/2014/main" id="{A3494638-B91B-4378-23BA-B079AB0FFEBE}"/>
              </a:ext>
            </a:extLst>
          </p:cNvPr>
          <p:cNvSpPr/>
          <p:nvPr/>
        </p:nvSpPr>
        <p:spPr>
          <a:xfrm>
            <a:off x="761999" y="5995170"/>
            <a:ext cx="10668000" cy="361950"/>
          </a:xfrm>
          <a:prstGeom prst="roundRect">
            <a:avLst>
              <a:gd name="adj" fmla="val 2105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5665EC-4000-EE09-AFAB-B05B702305EA}"/>
              </a:ext>
            </a:extLst>
          </p:cNvPr>
          <p:cNvSpPr txBox="1"/>
          <p:nvPr/>
        </p:nvSpPr>
        <p:spPr>
          <a:xfrm>
            <a:off x="801636" y="5995170"/>
            <a:ext cx="5157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475569"/>
                </a:solidFill>
                <a:latin typeface="Plus Jakarta Sans"/>
              </a:rPr>
              <a:t>Operational Range:</a:t>
            </a:r>
            <a:r>
              <a:rPr lang="en-US" dirty="0">
                <a:solidFill>
                  <a:srgbClr val="475569"/>
                </a:solidFill>
                <a:latin typeface="Plus Jakarta Sans"/>
              </a:rPr>
              <a:t> 1 – 2000 km training threshold.</a:t>
            </a:r>
          </a:p>
          <a:p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47D369-930C-F154-5387-3D508A63D381}"/>
              </a:ext>
            </a:extLst>
          </p:cNvPr>
          <p:cNvSpPr txBox="1"/>
          <p:nvPr/>
        </p:nvSpPr>
        <p:spPr>
          <a:xfrm>
            <a:off x="9058275" y="1508150"/>
            <a:ext cx="27384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LASSO MIN RMSE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3B844D-3D01-CA5C-196E-25C88BB660D9}"/>
              </a:ext>
            </a:extLst>
          </p:cNvPr>
          <p:cNvSpPr txBox="1"/>
          <p:nvPr/>
        </p:nvSpPr>
        <p:spPr>
          <a:xfrm>
            <a:off x="9058275" y="1698650"/>
            <a:ext cx="2738437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2250" b="1" i="0" u="none">
                <a:solidFill>
                  <a:srgbClr val="0F172A"/>
                </a:solidFill>
                <a:latin typeface="Space Grotesk"/>
              </a:rPr>
              <a:t>12.82 min</a:t>
            </a:r>
          </a:p>
        </p:txBody>
      </p:sp>
    </p:spTree>
    <p:extLst>
      <p:ext uri="{BB962C8B-B14F-4D97-AF65-F5344CB8AC3E}">
        <p14:creationId xmlns:p14="http://schemas.microsoft.com/office/powerpoint/2010/main" val="374022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7463DF3-F839-86A2-A222-5B6FFEA8D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56" y="1575369"/>
            <a:ext cx="5211628" cy="48396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DD474E-E552-4DD3-4E66-3003DA7D8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157" y="1575368"/>
            <a:ext cx="4906587" cy="48396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A115D3-7C80-F0F2-0D3B-C9C8FB0A55A9}"/>
              </a:ext>
            </a:extLst>
          </p:cNvPr>
          <p:cNvSpPr txBox="1"/>
          <p:nvPr/>
        </p:nvSpPr>
        <p:spPr>
          <a:xfrm>
            <a:off x="757084" y="442958"/>
            <a:ext cx="28316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700" b="1" dirty="0">
                <a:solidFill>
                  <a:srgbClr val="0F172A"/>
                </a:solidFill>
                <a:latin typeface="Space Grotesk"/>
              </a:rPr>
              <a:t>Screenshots</a:t>
            </a:r>
          </a:p>
          <a:p>
            <a:endParaRPr lang="en-IN" sz="2700" dirty="0"/>
          </a:p>
        </p:txBody>
      </p:sp>
    </p:spTree>
    <p:extLst>
      <p:ext uri="{BB962C8B-B14F-4D97-AF65-F5344CB8AC3E}">
        <p14:creationId xmlns:p14="http://schemas.microsoft.com/office/powerpoint/2010/main" val="534393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15661A-3B30-3325-E8C6-789547ECC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89" y="860940"/>
            <a:ext cx="5629978" cy="51361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A4E02DA-A116-95A9-5597-80140AFAF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955" y="860940"/>
            <a:ext cx="5361056" cy="513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13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633662"/>
            <a:ext cx="5162550" cy="259080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67450" y="2633662"/>
            <a:ext cx="5162550" cy="259080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790575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Space Grotesk"/>
              </a:rPr>
              <a:t>Advantages &amp; Real-World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6325" y="2947987"/>
            <a:ext cx="595074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System 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2947987"/>
            <a:ext cx="561022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Target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9675" y="3343275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4925" y="3367087"/>
            <a:ext cx="4400550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Sub-Millisecond Inference: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Operates without heavy GPU requirements.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9675" y="3895725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4925" y="3919537"/>
            <a:ext cx="4400550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Weather-Aware Accuracy: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Incorporates rain &amp; fog speed dampening.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9675" y="4448175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4925" y="4471987"/>
            <a:ext cx="4400550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Transparent Coefficients: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Avoids black-box deep learning unreliability.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5125" y="3343275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3367087"/>
            <a:ext cx="4400550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Freight Logistics: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Dynamic dispatch for interstate haulers.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5125" y="3895725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0375" y="3919537"/>
            <a:ext cx="4400550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On-Demand Deliveries: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Accurate food &amp; parcel delivery time windows.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5125" y="4448175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0375" y="4471987"/>
            <a:ext cx="4400550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Emergency Dispatch: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Weather-calibrated routing for ambulances.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633662"/>
            <a:ext cx="5162550" cy="259080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9525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67450" y="2633662"/>
            <a:ext cx="5162550" cy="2590800"/>
          </a:xfrm>
          <a:prstGeom prst="roundRect">
            <a:avLst>
              <a:gd name="adj" fmla="val 588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2967037"/>
            <a:ext cx="22860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775" y="2967037"/>
            <a:ext cx="22860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790575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Limitations &amp; Future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9225" y="2947987"/>
            <a:ext cx="255031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92400E"/>
                </a:solidFill>
                <a:latin typeface="Plus Jakarta Sans"/>
              </a:rPr>
              <a:t>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9675" y="3343275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78350F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4925" y="3367087"/>
            <a:ext cx="4400550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78350F"/>
                </a:solidFill>
                <a:latin typeface="Plus Jakarta Sans"/>
              </a:rPr>
              <a:t>Linear Extrapolation Range:</a:t>
            </a:r>
            <a:r>
              <a:rPr sz="1350" b="0" i="0" u="none">
                <a:solidFill>
                  <a:srgbClr val="78350F"/>
                </a:solidFill>
                <a:latin typeface="Plus Jakarta Sans"/>
              </a:rPr>
              <a:t> Accuracy diminishes above 50 km boundary.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9675" y="3895725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78350F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4925" y="3919537"/>
            <a:ext cx="4400550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78350F"/>
                </a:solidFill>
                <a:latin typeface="Plus Jakarta Sans"/>
              </a:rPr>
              <a:t>Synthesized Traffic Data:</a:t>
            </a:r>
            <a:r>
              <a:rPr sz="1350" b="0" i="0" u="none">
                <a:solidFill>
                  <a:srgbClr val="78350F"/>
                </a:solidFill>
                <a:latin typeface="Plus Jakarta Sans"/>
              </a:rPr>
              <a:t> Relies on user override or static indices.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9675" y="4448175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78350F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4925" y="4471987"/>
            <a:ext cx="4400550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78350F"/>
                </a:solidFill>
                <a:latin typeface="Plus Jakarta Sans"/>
              </a:rPr>
              <a:t>Weather Latency:</a:t>
            </a:r>
            <a:r>
              <a:rPr sz="1350" b="0" i="0" u="none">
                <a:solidFill>
                  <a:srgbClr val="78350F"/>
                </a:solidFill>
                <a:latin typeface="Plus Jakarta Sans"/>
              </a:rPr>
              <a:t> Free weather APIs refresh on an hourly schedule.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4675" y="2947987"/>
            <a:ext cx="177522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4532D"/>
                </a:solidFill>
                <a:latin typeface="Plus Jakarta Sans"/>
              </a:rPr>
              <a:t>Future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5125" y="3343275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66534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0375" y="3367087"/>
            <a:ext cx="4400550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6534"/>
                </a:solidFill>
                <a:latin typeface="Plus Jakarta Sans"/>
              </a:rPr>
              <a:t>Deep Learning Ensembles:</a:t>
            </a:r>
            <a:r>
              <a:rPr sz="1350" b="0" i="0" u="none">
                <a:solidFill>
                  <a:srgbClr val="166534"/>
                </a:solidFill>
                <a:latin typeface="Plus Jakarta Sans"/>
              </a:rPr>
              <a:t> Incorporate LSTM networks for sequential routes.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5125" y="3895725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66534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0375" y="3919537"/>
            <a:ext cx="4400550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6534"/>
                </a:solidFill>
                <a:latin typeface="Plus Jakarta Sans"/>
              </a:rPr>
              <a:t>Live GPS Telemetry:</a:t>
            </a:r>
            <a:r>
              <a:rPr sz="1350" b="0" i="0" u="none">
                <a:solidFill>
                  <a:srgbClr val="166534"/>
                </a:solidFill>
                <a:latin typeface="Plus Jakarta Sans"/>
              </a:rPr>
              <a:t> Ingest fleet IoT feeds via Kafka streams.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5125" y="4448175"/>
            <a:ext cx="95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66534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0375" y="4471987"/>
            <a:ext cx="4400550" cy="4381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6534"/>
                </a:solidFill>
                <a:latin typeface="Plus Jakarta Sans"/>
              </a:rPr>
              <a:t>Distributed Training:</a:t>
            </a:r>
            <a:r>
              <a:rPr sz="1350" b="0" i="0" u="none">
                <a:solidFill>
                  <a:srgbClr val="166534"/>
                </a:solidFill>
                <a:latin typeface="Plus Jakarta Sans"/>
              </a:rPr>
              <a:t> Automated continuous model retraining pipelines.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791200"/>
            <a:ext cx="10668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579120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772025" y="3841402"/>
            <a:ext cx="9525" cy="5715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410450" y="3841402"/>
            <a:ext cx="9525" cy="5715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0328" y="2064097"/>
            <a:ext cx="10751343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 i="0" u="none">
                <a:solidFill>
                  <a:srgbClr val="FFFFFF"/>
                </a:solidFill>
                <a:latin typeface="Space Grotesk"/>
              </a:rPr>
              <a:t>Conclusion &amp; Key 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6312" y="2803177"/>
            <a:ext cx="10239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Successfully developed and validated a full-stack ML travel time predictor that fuses geospatial routing, weather parameters, and regularized regression.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46297" y="6008171"/>
            <a:ext cx="2533234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 dirty="0">
                <a:solidFill>
                  <a:srgbClr val="F1F5F9"/>
                </a:solidFill>
                <a:latin typeface="Plus Jakarta Sans"/>
              </a:rPr>
              <a:t>Thank You!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6031" y="3717577"/>
            <a:ext cx="1976437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38BDF8"/>
                </a:solidFill>
                <a:latin typeface="Plus Jakarta Sans"/>
              </a:rPr>
              <a:t>0.9105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6031" y="4355752"/>
            <a:ext cx="19764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Plus Jakarta Sans"/>
              </a:rPr>
              <a:t>TEST R²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4437" y="3717577"/>
            <a:ext cx="2143125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38BDF8"/>
                </a:solidFill>
                <a:latin typeface="Plus Jakarta Sans"/>
              </a:rPr>
              <a:t>9.63m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4437" y="4355752"/>
            <a:ext cx="2143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Plus Jakarta Sans"/>
              </a:rPr>
              <a:t>MEAN ABSOLUTE 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79531" y="3717577"/>
            <a:ext cx="1976437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38BDF8"/>
                </a:solidFill>
                <a:latin typeface="Plus Jakarta Sans"/>
              </a:rPr>
              <a:t>&lt;50ms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79531" y="4355752"/>
            <a:ext cx="19764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Plus Jakarta Sans"/>
              </a:rPr>
              <a:t>INFERENCE LATENCY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1125</Words>
  <Application>Microsoft Office PowerPoint</Application>
  <PresentationFormat>Widescreen</PresentationFormat>
  <Paragraphs>181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Calibri</vt:lpstr>
      <vt:lpstr>Space Grotesk</vt:lpstr>
      <vt:lpstr>Arial</vt:lpstr>
      <vt:lpstr>Plus Jakarta Sans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SHANTHI SWAROOP</cp:lastModifiedBy>
  <cp:revision>7</cp:revision>
  <dcterms:created xsi:type="dcterms:W3CDTF">2013-01-27T09:14:16Z</dcterms:created>
  <dcterms:modified xsi:type="dcterms:W3CDTF">2026-10-14T06:06:15Z</dcterms:modified>
  <cp:category/>
</cp:coreProperties>
</file>